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FE8BC-8C9C-1FB4-C4D0-FE9C8D68D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D690E-C72E-EEE3-B085-2F5A9B006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855BC-0ED5-7ADA-D9C7-549386DA1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61200-6796-1205-1778-D4F1C0DC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233D9-24D8-13F1-95CF-6F70169D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733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7457-884A-1F82-13D8-386ECF92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D3EDB-2B1E-CC7B-6E68-F20CEDF87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2A33A-24B3-A58C-F8E1-C04F32CB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163E7-B4DA-D087-3C8A-D652F93BA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91FE0-5D1B-0C7C-F9BD-63EDD6F1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75615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534D-E525-AB84-BAB9-0E917584D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F44C0-E3F6-CDF9-B293-6D130B8BC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33825-BD4D-4A60-CB30-406B6CC4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0226-A92C-B5B7-4B37-86424CA22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5275-961A-8929-C6EB-DBB88AD6B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07952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2EB3-73E4-317F-03CC-098B09B7B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71D10-54C0-B4F6-A786-A38579B32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8AAB2-8E42-3648-6D4A-B4FE6BD67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D0DB8-4AE0-13BF-BB06-52C73A231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28C3D-5640-778B-7006-2FF921E71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7DAD3-BF9C-C03D-B328-E0A77FA7A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39820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FB08-8C7C-9B84-54E5-32BFEFE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7AE05-A2C3-636D-F464-402F7013A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4D332-48DD-C2C7-EE07-D9510F967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85B0FE-3338-5170-0111-8211FFB85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1AEDD-F564-E639-0BEF-7CC4D908A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56CC98-B307-5EE8-D188-C2A7889A3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A0AB3-B9A7-FEB4-2261-CBA546F6D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F92D1F-F649-6E2B-56D7-4EDD8F37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953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AF05D-B8AF-54F2-1A73-FA14A417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6E146-7177-0DE8-1D0F-3B9BFD70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832D0-04EA-A032-CEB0-C7560151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9D4E8-110E-A008-23D4-412844E6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8336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6E386A-C2A4-AD0F-C01E-AC6C6170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1C022-918A-1B38-A379-5C7C00FCF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387A0-D4BD-1E8F-358B-59913F13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6216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BCFF-F7C8-ABDE-5E60-FD64DF211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4B6D4-6AA1-66C1-9C9F-12858348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D90B7-BD22-4ED8-BB34-7FAECE496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91DE8-3603-E047-9741-ED20DB913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B2AB5-2570-1F51-A3CB-34DFBDE3F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AAC24-A65A-F8B8-D03A-3FF967CC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1968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77E1A-9FB2-6C1D-11D7-82123C88B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CDD4C-E5C7-C3F1-EDE5-57BFE593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995A4-00C6-1E29-CBF6-2B4724587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BEB56-5948-F1C1-F441-58F832DAA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61EE6-7A06-1423-CFFC-6F2F1A58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12275-584C-3C53-93CE-110EED3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6428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7A5D-5D23-DEE5-6731-86864CA0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4F97D-D4E4-8C24-A1A7-F057AFD12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07F77-6D6B-761C-E448-587BA8353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0A61E-EF95-45AF-ABE4-2878C21A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DDEB0-B123-3C26-0176-C1236372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036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26CDA-1C54-1476-BD1A-0D1B88682A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D6F98-0F69-A2D2-09E3-30725075D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BCD6F-0F3A-F4F4-7327-48662C67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A884F-9A4C-8EC1-A10E-8CEEFE3A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71517-B1FD-4592-16AF-3B46ECA7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42406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CD0AD4-3094-567C-9929-6D89FB8C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V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2D435-5799-9130-9726-1BB431178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144C9-852B-F016-A507-B8855AB5A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DFA0A-E941-4A60-BC8A-352D744CAE75}" type="datetimeFigureOut">
              <a:rPr lang="es-VE" smtClean="0"/>
              <a:t>9/7/2025</a:t>
            </a:fld>
            <a:endParaRPr lang="es-V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09D9D-9703-D2A4-D7BD-C03BD97D4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34B3-F51C-6FC6-C282-281AFBEA5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924E3-74E2-44F6-AB8C-578E3472C6D5}" type="slidenum">
              <a:rPr lang="es-VE" smtClean="0"/>
              <a:t>‹#›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6434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C79B-E962-9F24-8200-21C428EE1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1452" y="999240"/>
            <a:ext cx="9144000" cy="3873738"/>
          </a:xfrm>
        </p:spPr>
        <p:txBody>
          <a:bodyPr>
            <a:normAutofit/>
          </a:bodyPr>
          <a:lstStyle/>
          <a:p>
            <a:r>
              <a:rPr lang="es-VE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Programación en R</a:t>
            </a:r>
            <a:br>
              <a:rPr lang="es-VE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VE" b="1" noProof="0" dirty="0">
                <a:latin typeface="Arial" panose="020B0604020202020204" pitchFamily="34" charset="0"/>
                <a:cs typeface="Arial" panose="020B0604020202020204" pitchFamily="34" charset="0"/>
              </a:rPr>
              <a:t>Funciones</a:t>
            </a:r>
            <a:br>
              <a:rPr lang="es-VE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VE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VE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EF71F0-64CD-C4C7-F89A-67F86F754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52" y="4309048"/>
            <a:ext cx="9144000" cy="470341"/>
          </a:xfrm>
        </p:spPr>
        <p:txBody>
          <a:bodyPr/>
          <a:lstStyle/>
          <a:p>
            <a:r>
              <a:rPr lang="es-VE" noProof="0" dirty="0">
                <a:latin typeface="Arial" panose="020B0604020202020204" pitchFamily="34" charset="0"/>
                <a:cs typeface="Arial" panose="020B0604020202020204" pitchFamily="34" charset="0"/>
              </a:rPr>
              <a:t>Fernando Hernandez / Rafael Puche</a:t>
            </a:r>
          </a:p>
        </p:txBody>
      </p:sp>
    </p:spTree>
    <p:extLst>
      <p:ext uri="{BB962C8B-B14F-4D97-AF65-F5344CB8AC3E}">
        <p14:creationId xmlns:p14="http://schemas.microsoft.com/office/powerpoint/2010/main" val="1578754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650B6E-A113-26D9-3C43-879C48781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544292"/>
              </p:ext>
            </p:extLst>
          </p:nvPr>
        </p:nvGraphicFramePr>
        <p:xfrm>
          <a:off x="2311137" y="1300899"/>
          <a:ext cx="7832103" cy="481764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610701">
                  <a:extLst>
                    <a:ext uri="{9D8B030D-6E8A-4147-A177-3AD203B41FA5}">
                      <a16:colId xmlns:a16="http://schemas.microsoft.com/office/drawing/2014/main" val="2774964719"/>
                    </a:ext>
                  </a:extLst>
                </a:gridCol>
                <a:gridCol w="3241774">
                  <a:extLst>
                    <a:ext uri="{9D8B030D-6E8A-4147-A177-3AD203B41FA5}">
                      <a16:colId xmlns:a16="http://schemas.microsoft.com/office/drawing/2014/main" val="3494290994"/>
                    </a:ext>
                  </a:extLst>
                </a:gridCol>
                <a:gridCol w="1979628">
                  <a:extLst>
                    <a:ext uri="{9D8B030D-6E8A-4147-A177-3AD203B41FA5}">
                      <a16:colId xmlns:a16="http://schemas.microsoft.com/office/drawing/2014/main" val="2236615208"/>
                    </a:ext>
                  </a:extLst>
                </a:gridCol>
              </a:tblGrid>
              <a:tr h="537389"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Operador</a:t>
                      </a:r>
                      <a:endParaRPr lang="es-VE" sz="28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Nombre</a:t>
                      </a:r>
                      <a:endParaRPr lang="es-VE" sz="28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Ejemplo</a:t>
                      </a:r>
                      <a:endParaRPr lang="es-VE" sz="28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45903"/>
                  </a:ext>
                </a:extLst>
              </a:tr>
              <a:tr h="537389"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==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Igual</a:t>
                      </a:r>
                      <a:endParaRPr lang="es-VE" sz="28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== y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927558"/>
                  </a:ext>
                </a:extLst>
              </a:tr>
              <a:tr h="537389"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!=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es igual</a:t>
                      </a:r>
                      <a:endParaRPr lang="es-VE" sz="28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!= y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398006"/>
                  </a:ext>
                </a:extLst>
              </a:tr>
              <a:tr h="537389"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Mayor que</a:t>
                      </a:r>
                      <a:endParaRPr lang="es-VE" sz="28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&gt; y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428289"/>
                  </a:ext>
                </a:extLst>
              </a:tr>
              <a:tr h="537389"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Menor que</a:t>
                      </a:r>
                      <a:endParaRPr lang="es-VE" sz="28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&lt; y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615324"/>
                  </a:ext>
                </a:extLst>
              </a:tr>
              <a:tr h="1065350"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&gt;=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Mayor que o igual a</a:t>
                      </a:r>
                      <a:endParaRPr lang="es-VE" sz="28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&gt;= y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143291"/>
                  </a:ext>
                </a:extLst>
              </a:tr>
              <a:tr h="1065350"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&lt;=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Menor que o igual a</a:t>
                      </a:r>
                      <a:endParaRPr lang="es-VE" sz="28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VE" sz="2800" b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 &lt;= y</a:t>
                      </a:r>
                      <a:endParaRPr lang="es-VE" sz="2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30188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45348F-51C2-322B-C181-BE253B572B7B}"/>
              </a:ext>
            </a:extLst>
          </p:cNvPr>
          <p:cNvSpPr txBox="1"/>
          <p:nvPr/>
        </p:nvSpPr>
        <p:spPr>
          <a:xfrm>
            <a:off x="188537" y="385513"/>
            <a:ext cx="36070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4000" noProof="0" dirty="0">
                <a:latin typeface="Arial" panose="020B0604020202020204" pitchFamily="34" charset="0"/>
                <a:cs typeface="Arial" panose="020B0604020202020204" pitchFamily="34" charset="0"/>
              </a:rPr>
              <a:t>Recordemos…</a:t>
            </a:r>
          </a:p>
        </p:txBody>
      </p:sp>
    </p:spTree>
    <p:extLst>
      <p:ext uri="{BB962C8B-B14F-4D97-AF65-F5344CB8AC3E}">
        <p14:creationId xmlns:p14="http://schemas.microsoft.com/office/powerpoint/2010/main" val="4164520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88FB8-4530-4713-3229-14E1D3B21449}"/>
              </a:ext>
            </a:extLst>
          </p:cNvPr>
          <p:cNvSpPr txBox="1"/>
          <p:nvPr/>
        </p:nvSpPr>
        <p:spPr>
          <a:xfrm>
            <a:off x="188537" y="385513"/>
            <a:ext cx="30636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4000" noProof="0" dirty="0">
                <a:latin typeface="Arial" panose="020B0604020202020204" pitchFamily="34" charset="0"/>
                <a:cs typeface="Arial" panose="020B0604020202020204" pitchFamily="34" charset="0"/>
              </a:rPr>
              <a:t>Funciones…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16693-C1DC-2B09-4303-D3A531598ADB}"/>
              </a:ext>
            </a:extLst>
          </p:cNvPr>
          <p:cNvSpPr txBox="1"/>
          <p:nvPr/>
        </p:nvSpPr>
        <p:spPr>
          <a:xfrm>
            <a:off x="930111" y="1859340"/>
            <a:ext cx="103317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Las funciones se utilizan para dividir lógicamente nuestro código en partes más simples que sean fáciles de mantener y comprender.</a:t>
            </a:r>
          </a:p>
          <a:p>
            <a:endParaRPr lang="es-VE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Es bastante sencillo crear su propia función en la programación 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51151-395E-DBA9-98E6-B27F2F280576}"/>
              </a:ext>
            </a:extLst>
          </p:cNvPr>
          <p:cNvSpPr txBox="1"/>
          <p:nvPr/>
        </p:nvSpPr>
        <p:spPr>
          <a:xfrm>
            <a:off x="1008668" y="4081806"/>
            <a:ext cx="1755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200" b="1" noProof="0" dirty="0">
                <a:latin typeface="Arial" panose="020B0604020202020204" pitchFamily="34" charset="0"/>
                <a:cs typeface="Arial" panose="020B0604020202020204" pitchFamily="34" charset="0"/>
              </a:rPr>
              <a:t>Sintaxis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EA73F-6821-33AE-988A-D9702D5CFE77}"/>
              </a:ext>
            </a:extLst>
          </p:cNvPr>
          <p:cNvSpPr txBox="1"/>
          <p:nvPr/>
        </p:nvSpPr>
        <p:spPr>
          <a:xfrm>
            <a:off x="1886471" y="4741930"/>
            <a:ext cx="68993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2400" b="1" i="0" u="none" strike="noStrike" baseline="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nombre_funcion</a:t>
            </a:r>
            <a:r>
              <a:rPr lang="es-VE" sz="2400" b="1" i="0" u="none" strike="noStrike" baseline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 &lt;- </a:t>
            </a:r>
            <a:r>
              <a:rPr lang="es-VE" sz="2400" b="1" i="0" u="none" strike="noStrike" baseline="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function</a:t>
            </a:r>
            <a:r>
              <a:rPr lang="es-VE" sz="2400" b="1" i="0" u="none" strike="noStrike" baseline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(argumento){  </a:t>
            </a:r>
            <a:endParaRPr lang="es-VE" sz="2400" b="0" i="0" u="none" strike="noStrike" baseline="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VE" sz="2400" b="1" i="0" u="none" strike="noStrike" baseline="0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declaracion</a:t>
            </a:r>
            <a:endParaRPr lang="es-VE" sz="2400" b="0" i="0" u="none" strike="noStrike" baseline="0" noProof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VE" sz="2400" b="1" i="0" u="none" strike="noStrike" baseline="0" noProof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s-VE" sz="2400" noProof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846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1694A8-158C-9B2E-FC65-1089E8D5376D}"/>
              </a:ext>
            </a:extLst>
          </p:cNvPr>
          <p:cNvSpPr txBox="1"/>
          <p:nvPr/>
        </p:nvSpPr>
        <p:spPr>
          <a:xfrm>
            <a:off x="188537" y="385513"/>
            <a:ext cx="3692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4000" noProof="0" dirty="0">
                <a:latin typeface="Arial" panose="020B0604020202020204" pitchFamily="34" charset="0"/>
                <a:cs typeface="Arial" panose="020B0604020202020204" pitchFamily="34" charset="0"/>
              </a:rPr>
              <a:t>Continuación…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C6FF9-DE20-4DF5-1D2D-14C0E768E6C8}"/>
              </a:ext>
            </a:extLst>
          </p:cNvPr>
          <p:cNvSpPr txBox="1"/>
          <p:nvPr/>
        </p:nvSpPr>
        <p:spPr>
          <a:xfrm>
            <a:off x="556180" y="2277194"/>
            <a:ext cx="113121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La palabra reservada </a:t>
            </a:r>
            <a:r>
              <a:rPr lang="es-VE" sz="24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se utiliza para declarar una función en R.</a:t>
            </a:r>
          </a:p>
          <a:p>
            <a:pPr marL="514350" indent="-514350">
              <a:buFont typeface="+mj-lt"/>
              <a:buAutoNum type="romanUcPeriod"/>
            </a:pPr>
            <a:endParaRPr lang="es-VE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UcPeriod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VE" sz="2400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declaraciones</a:t>
            </a: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dentro de las llaves forman el cuerpo de la función.</a:t>
            </a:r>
          </a:p>
          <a:p>
            <a:pPr marL="514350" indent="-514350">
              <a:buFont typeface="+mj-lt"/>
              <a:buAutoNum type="romanUcPeriod"/>
            </a:pPr>
            <a:endParaRPr lang="es-VE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UcPeriod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Estas llaves son opcionales si el cuerpo contiene una </a:t>
            </a:r>
            <a:r>
              <a:rPr lang="es-VE" sz="2400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sola expresión</a:t>
            </a: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>
              <a:buFont typeface="+mj-lt"/>
              <a:buAutoNum type="romanUcPeriod"/>
            </a:pPr>
            <a:endParaRPr lang="es-VE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UcPeriod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Finalmente, a este </a:t>
            </a:r>
            <a:r>
              <a:rPr lang="es-VE" sz="2400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objeto de función </a:t>
            </a: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se le da un nombre asignándolo a una variable, </a:t>
            </a:r>
            <a:r>
              <a:rPr lang="es-VE" sz="24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nombre_funcion</a:t>
            </a:r>
            <a:endParaRPr lang="es-VE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502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FD92FB-A3FE-A45A-1962-402097ADD5DF}"/>
              </a:ext>
            </a:extLst>
          </p:cNvPr>
          <p:cNvSpPr txBox="1"/>
          <p:nvPr/>
        </p:nvSpPr>
        <p:spPr>
          <a:xfrm>
            <a:off x="188537" y="385513"/>
            <a:ext cx="3692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4000" noProof="0" dirty="0">
                <a:latin typeface="Arial" panose="020B0604020202020204" pitchFamily="34" charset="0"/>
                <a:cs typeface="Arial" panose="020B0604020202020204" pitchFamily="34" charset="0"/>
              </a:rPr>
              <a:t>Continuación…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5AE924-3437-50E4-F951-D1C9F091D51D}"/>
              </a:ext>
            </a:extLst>
          </p:cNvPr>
          <p:cNvSpPr txBox="1"/>
          <p:nvPr/>
        </p:nvSpPr>
        <p:spPr>
          <a:xfrm>
            <a:off x="2034555" y="1847653"/>
            <a:ext cx="81227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Escribamos una función para calcular potencias…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CC8EB-487C-DC9B-6059-F3A7466AD4B0}"/>
              </a:ext>
            </a:extLst>
          </p:cNvPr>
          <p:cNvSpPr txBox="1"/>
          <p:nvPr/>
        </p:nvSpPr>
        <p:spPr>
          <a:xfrm>
            <a:off x="1140643" y="4487128"/>
            <a:ext cx="100395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Los argumentos utilizados en la declaración de la función (x, y) se denominan </a:t>
            </a:r>
            <a:r>
              <a:rPr lang="es-VE" sz="2400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argumentos formales </a:t>
            </a: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y los utilizados al llamar a la función se denominan </a:t>
            </a:r>
            <a:r>
              <a:rPr lang="es-VE" sz="2400" b="1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argumentos reales</a:t>
            </a: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Graphic 10" descr="Help">
            <a:extLst>
              <a:ext uri="{FF2B5EF4-FFF2-40B4-BE49-F238E27FC236}">
                <a16:creationId xmlns:a16="http://schemas.microsoft.com/office/drawing/2014/main" id="{C38576FF-C072-BE9D-97FA-3FB62DDE3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9760" y="2370872"/>
            <a:ext cx="2072326" cy="207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F7C886-299F-1517-AEB9-9FA72C5D4D30}"/>
              </a:ext>
            </a:extLst>
          </p:cNvPr>
          <p:cNvSpPr txBox="1"/>
          <p:nvPr/>
        </p:nvSpPr>
        <p:spPr>
          <a:xfrm>
            <a:off x="464269" y="607185"/>
            <a:ext cx="99334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4000" noProof="0" dirty="0">
                <a:latin typeface="Arial" panose="020B0604020202020204" pitchFamily="34" charset="0"/>
                <a:cs typeface="Arial" panose="020B0604020202020204" pitchFamily="34" charset="0"/>
              </a:rPr>
              <a:t>Principios clave para crear funciones en 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2BDBF-3B06-D5C1-015C-DFB0B56FDBCD}"/>
              </a:ext>
            </a:extLst>
          </p:cNvPr>
          <p:cNvSpPr txBox="1"/>
          <p:nvPr/>
        </p:nvSpPr>
        <p:spPr>
          <a:xfrm>
            <a:off x="1256122" y="2296593"/>
            <a:ext cx="100466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Nombres claros y específicos</a:t>
            </a:r>
          </a:p>
          <a:p>
            <a:pPr marL="342900" indent="-342900" algn="just">
              <a:buAutoNum type="arabicPeriod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Una función, </a:t>
            </a:r>
            <a:r>
              <a:rPr lang="es-VE" sz="24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s-VE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Tarea (Principio de Responsabilidad Única)</a:t>
            </a:r>
          </a:p>
          <a:p>
            <a:pPr marL="342900" indent="-342900" algn="just">
              <a:buAutoNum type="arabicPeriod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Mantener las funciones puras (Evita Efectos Secundarios)</a:t>
            </a:r>
          </a:p>
          <a:p>
            <a:pPr marL="342900" indent="-342900" algn="just">
              <a:buAutoNum type="arabicPeriod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Definir explícitamente las entradas (Argumentos)</a:t>
            </a:r>
          </a:p>
          <a:p>
            <a:pPr marL="342900" indent="-342900" algn="just">
              <a:buAutoNum type="arabicPeriod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Usar valores por defecto para los argumentos</a:t>
            </a:r>
          </a:p>
          <a:p>
            <a:pPr marL="342900" indent="-342900" algn="just">
              <a:buAutoNum type="arabicPeriod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Comprobar las </a:t>
            </a:r>
            <a:r>
              <a:rPr lang="es-VE" sz="2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VE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ntradas</a:t>
            </a: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(Validación de argumentos)</a:t>
            </a:r>
          </a:p>
          <a:p>
            <a:pPr marL="342900" indent="-342900" algn="just">
              <a:buAutoNum type="arabicPeriod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Documentar las </a:t>
            </a:r>
            <a:r>
              <a:rPr lang="es-VE" sz="2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unciones</a:t>
            </a:r>
          </a:p>
        </p:txBody>
      </p:sp>
    </p:spTree>
    <p:extLst>
      <p:ext uri="{BB962C8B-B14F-4D97-AF65-F5344CB8AC3E}">
        <p14:creationId xmlns:p14="http://schemas.microsoft.com/office/powerpoint/2010/main" val="199151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FD92FB-A3FE-A45A-1962-402097ADD5DF}"/>
              </a:ext>
            </a:extLst>
          </p:cNvPr>
          <p:cNvSpPr txBox="1"/>
          <p:nvPr/>
        </p:nvSpPr>
        <p:spPr>
          <a:xfrm>
            <a:off x="188537" y="385513"/>
            <a:ext cx="3692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4000" noProof="0" dirty="0">
                <a:latin typeface="Arial" panose="020B0604020202020204" pitchFamily="34" charset="0"/>
                <a:cs typeface="Arial" panose="020B0604020202020204" pitchFamily="34" charset="0"/>
              </a:rPr>
              <a:t>Continuación…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3C1D70-A4CE-947B-DCA8-7C4989793F5F}"/>
              </a:ext>
            </a:extLst>
          </p:cNvPr>
          <p:cNvSpPr txBox="1"/>
          <p:nvPr/>
        </p:nvSpPr>
        <p:spPr>
          <a:xfrm>
            <a:off x="1279380" y="1677971"/>
            <a:ext cx="3097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200" b="1" noProof="0" dirty="0">
                <a:latin typeface="Arial" panose="020B0604020202020204" pitchFamily="34" charset="0"/>
                <a:cs typeface="Arial" panose="020B0604020202020204" pitchFamily="34" charset="0"/>
              </a:rPr>
              <a:t>Años bisiestos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AA0E1-F25B-BA2F-2940-E16CFF6E6807}"/>
              </a:ext>
            </a:extLst>
          </p:cNvPr>
          <p:cNvSpPr txBox="1"/>
          <p:nvPr/>
        </p:nvSpPr>
        <p:spPr>
          <a:xfrm>
            <a:off x="2535810" y="2523009"/>
            <a:ext cx="74094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Considérese las siguientes </a:t>
            </a:r>
            <a:r>
              <a:rPr lang="es-VE" sz="24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proposiciones</a:t>
            </a: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s-VE" sz="24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enunciados lógicos</a:t>
            </a: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s-VE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Es divisible entre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No es divisible entre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Es divisible entre 400</a:t>
            </a:r>
          </a:p>
          <a:p>
            <a:endParaRPr lang="es-VE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VE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				Tomado de Wikipedia</a:t>
            </a:r>
          </a:p>
        </p:txBody>
      </p:sp>
    </p:spTree>
    <p:extLst>
      <p:ext uri="{BB962C8B-B14F-4D97-AF65-F5344CB8AC3E}">
        <p14:creationId xmlns:p14="http://schemas.microsoft.com/office/powerpoint/2010/main" val="319633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293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Programación en R Funciones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en R Uso de if, else, while y la función ifelse Ciclos en R. Uso de for</dc:title>
  <dc:creator>Fernando Hernandez</dc:creator>
  <cp:lastModifiedBy>Fernando Antonio Hernandez Medina</cp:lastModifiedBy>
  <cp:revision>14</cp:revision>
  <dcterms:created xsi:type="dcterms:W3CDTF">2024-04-21T23:00:47Z</dcterms:created>
  <dcterms:modified xsi:type="dcterms:W3CDTF">2025-07-09T15:40:01Z</dcterms:modified>
</cp:coreProperties>
</file>