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59D8-D7F6-F31E-89A1-69B719BCB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085A5-872A-90CA-0580-C247C1261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FBC91-2DD7-B9B1-8216-4659A8DB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45E3D-E13E-6DF2-CA73-C6316FB7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4C8BA-0141-6ECE-2CD2-87FB243D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7411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8026-9EA4-E648-6475-5A633831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EA0D-FEE1-22EF-AC73-211039ABB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819E-C3F1-514A-599E-47B0D63D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2A7FB-7123-8F4A-4A99-0B55B1BA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3C5F8-BE87-C359-FDF1-E6490FBD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4964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FFDB-2D1C-964F-AFDA-92E13BB3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0A314-66D7-ED0D-67B4-03AE4D7C5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3D5B-9767-5814-D6C5-548C4222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7462-E4C2-0B75-BDFD-9B8FCC35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A7559-6B96-8ABD-CF04-A8C43C45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369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2F82-BEDF-874A-F698-EF855DA0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3BD55-9EC6-EE0C-2F9F-3B7135A8A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3F3A4-4853-54F7-5372-077AB46F4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A8688-F26B-8EE2-8226-CB35A05C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F7D38-533E-4C2E-2BB5-78C63616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2746F-97A7-97CF-1B37-24B184C2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482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7013-B16D-768C-776E-C5D5CE40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86565-85A7-7321-58AC-324B0F5D0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AB698-CC09-0895-4C52-B775E57E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1A82E-709F-78C3-4FF0-D3E8EA419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D60C9-ECF0-C2A4-B8A9-06FC7FCD8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E6EB8-F907-1253-B0D1-13E6D9D6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92B3E-0DC0-ED03-411E-AF7E2389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E79AE-5D3C-718A-FCC6-006BE66B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722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D14A-0CD0-3EAD-283E-D4828A40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794D9-9C0B-A447-69F0-F1854F70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CD649-1826-7838-513A-F5E72915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7B0CF-3C26-6D70-8F6D-94545E0F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4724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B76F5-1B25-AA04-C261-65519456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22C5F-830D-7058-AC34-15C3397E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B647C-AA8A-BD56-D5D6-DAEA4FB6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8127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8D2B-E76B-90A4-8600-4BC45BB8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7BBFC-0276-398C-4DBB-B0FBDED0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A01D1-C269-6595-AA54-EEEDB9767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04A70-1397-181A-9F71-F2E9A934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0557F-2461-9D7C-0B49-12C1D32E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DD4D1-5072-4E20-6D04-6168A1B7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7144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C697-DD70-0E50-2A1A-7D20029F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99F9D-ACAF-2210-B6CB-B68E8E63A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649F1-2F43-BADE-73FF-633B0E44D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B2F27-BD8D-53D2-46DF-24C707C3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85611-FB48-1E7B-76FB-364DEFF4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842D0-83DF-10E3-DD0B-B2CFE827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317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14C7-95E5-B11E-D654-3205E081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652D7-40BD-12D3-5DA5-8B6BFF45D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D2A5B-7AA3-B81D-12C8-12EB838E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8CC06-A0FC-03D0-27B5-433B47DB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0065-61C3-F03C-45E3-2BB59A60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4802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1653F-C6CD-B09B-408A-3B76CE728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99825-471B-1435-484E-2F18FB70A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27C95-8617-63AA-7EBA-8226F11C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29BE6-271F-8F21-C565-EF52600C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3AEAF-E17D-77DB-ECB3-982E1C2B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8253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CA75B8-94A6-410E-B7BC-F3B57929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09B6A-7F0F-EB53-6C1C-372D338DD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5E5F-825B-5F16-4011-C8317716E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F76A0-5DAB-4207-991A-E3E343C3EF65}" type="datetimeFigureOut">
              <a:rPr lang="es-VE" smtClean="0"/>
              <a:t>1/7/2025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72BF-30CA-A729-2897-009660CE3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D4E86-1E5E-E282-A262-E80EAC5B2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FDE78-94B3-44D6-B95A-0E373BFACE6C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009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4" descr="diapositivas-05.jpg">
            <a:extLst>
              <a:ext uri="{FF2B5EF4-FFF2-40B4-BE49-F238E27FC236}">
                <a16:creationId xmlns:a16="http://schemas.microsoft.com/office/drawing/2014/main" id="{E4724204-9B0B-1414-69CF-1CC39B70378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80" y="0"/>
            <a:ext cx="12190320" cy="6857460"/>
          </a:xfrm>
          <a:prstGeom prst="rect">
            <a:avLst/>
          </a:prstGeom>
          <a:ln w="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C5E964-D58A-A353-5111-046FCA45898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41778" y="1246178"/>
            <a:ext cx="1661348" cy="1287521"/>
          </a:xfrm>
          <a:prstGeom prst="rect">
            <a:avLst/>
          </a:prstGeom>
          <a:ln w="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6789A6-79C1-B4CD-B0F6-E9FAD8D40F4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52666" y="1539460"/>
            <a:ext cx="2585678" cy="907901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>
            <a:extLst>
              <a:ext uri="{FF2B5EF4-FFF2-40B4-BE49-F238E27FC236}">
                <a16:creationId xmlns:a16="http://schemas.microsoft.com/office/drawing/2014/main" id="{9FB38347-72E9-C88E-1748-824CFAF5D335}"/>
              </a:ext>
            </a:extLst>
          </p:cNvPr>
          <p:cNvSpPr txBox="1">
            <a:spLocks/>
          </p:cNvSpPr>
          <p:nvPr/>
        </p:nvSpPr>
        <p:spPr>
          <a:xfrm>
            <a:off x="3706692" y="1539460"/>
            <a:ext cx="4778615" cy="907901"/>
          </a:xfrm>
          <a:prstGeom prst="rect">
            <a:avLst/>
          </a:prstGeom>
          <a:noFill/>
          <a:ln w="0">
            <a:noFill/>
          </a:ln>
        </p:spPr>
        <p:txBody>
          <a:bodyPr vert="horz" lIns="217800" tIns="108720" rIns="217800" bIns="108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539"/>
              </a:spcBef>
              <a:tabLst>
                <a:tab pos="0" algn="l"/>
              </a:tabLst>
            </a:pPr>
            <a:r>
              <a:rPr lang="es-VE" sz="1600" b="1" spc="-1" dirty="0">
                <a:solidFill>
                  <a:srgbClr val="000000"/>
                </a:solidFill>
                <a:latin typeface="Aptos" panose="020B0004020202020204" pitchFamily="34" charset="0"/>
              </a:rPr>
              <a:t>INSTITUTO VENEZOLANO</a:t>
            </a:r>
            <a:endParaRPr lang="es-VE" sz="1600" spc="-1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spcBef>
                <a:spcPts val="1539"/>
              </a:spcBef>
              <a:tabLst>
                <a:tab pos="0" algn="l"/>
              </a:tabLst>
            </a:pPr>
            <a:r>
              <a:rPr lang="es-VE" sz="1600" b="1" spc="-1" dirty="0">
                <a:solidFill>
                  <a:srgbClr val="000000"/>
                </a:solidFill>
                <a:latin typeface="Aptos" panose="020B0004020202020204" pitchFamily="34" charset="0"/>
              </a:rPr>
              <a:t>DE INVESTIGACIONES CIENTÍFICAS</a:t>
            </a:r>
            <a:endParaRPr lang="es-VE" sz="1600" spc="-1" dirty="0">
              <a:latin typeface="Aptos" panose="020B0004020202020204" pitchFamily="34" charset="0"/>
            </a:endParaRPr>
          </a:p>
        </p:txBody>
      </p:sp>
      <p:sp>
        <p:nvSpPr>
          <p:cNvPr id="12" name="Subtítulo 5">
            <a:extLst>
              <a:ext uri="{FF2B5EF4-FFF2-40B4-BE49-F238E27FC236}">
                <a16:creationId xmlns:a16="http://schemas.microsoft.com/office/drawing/2014/main" id="{C8B007F6-38CA-58C8-F96C-B64C0478C5CD}"/>
              </a:ext>
            </a:extLst>
          </p:cNvPr>
          <p:cNvSpPr/>
          <p:nvPr/>
        </p:nvSpPr>
        <p:spPr>
          <a:xfrm>
            <a:off x="2286241" y="2995181"/>
            <a:ext cx="7619518" cy="7255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7800" tIns="108720" rIns="217800" bIns="108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701"/>
              </a:spcBef>
              <a:buNone/>
              <a:tabLst>
                <a:tab pos="0" algn="l"/>
              </a:tabLst>
            </a:pPr>
            <a:r>
              <a:rPr lang="es-VE" sz="4400" b="1" strike="noStrike" spc="-1" noProof="0" dirty="0">
                <a:solidFill>
                  <a:srgbClr val="000000"/>
                </a:solidFill>
                <a:latin typeface="Aptos" panose="020B0004020202020204" pitchFamily="34" charset="0"/>
                <a:ea typeface="DejaVu Sans"/>
              </a:rPr>
              <a:t>R para ciencias de la vida</a:t>
            </a:r>
          </a:p>
          <a:p>
            <a:pPr algn="ctr">
              <a:lnSpc>
                <a:spcPct val="100000"/>
              </a:lnSpc>
              <a:spcBef>
                <a:spcPts val="1701"/>
              </a:spcBef>
              <a:buNone/>
              <a:tabLst>
                <a:tab pos="0" algn="l"/>
              </a:tabLst>
            </a:pPr>
            <a:r>
              <a:rPr lang="es-VE" sz="2800" spc="-1" dirty="0">
                <a:solidFill>
                  <a:srgbClr val="000000"/>
                </a:solidFill>
                <a:latin typeface="Aptos" panose="020B0004020202020204" pitchFamily="34" charset="0"/>
              </a:rPr>
              <a:t>Estructuras de control</a:t>
            </a:r>
            <a:endParaRPr lang="es-VE" sz="2800" strike="noStrike" spc="-1" noProof="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9D6F50-F33C-FA52-3FC2-5E431F1BBDCA}"/>
              </a:ext>
            </a:extLst>
          </p:cNvPr>
          <p:cNvSpPr/>
          <p:nvPr/>
        </p:nvSpPr>
        <p:spPr>
          <a:xfrm>
            <a:off x="2320140" y="5318540"/>
            <a:ext cx="7551720" cy="71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VE" b="0" strike="noStrike" spc="-1" noProof="0" dirty="0">
                <a:solidFill>
                  <a:srgbClr val="000000"/>
                </a:solidFill>
                <a:latin typeface="Aptos" panose="020B0004020202020204" pitchFamily="34" charset="0"/>
                <a:ea typeface="DejaVu Sans"/>
              </a:rPr>
              <a:t>Dr. Fernando A. Hernández M.</a:t>
            </a:r>
          </a:p>
          <a:p>
            <a:pPr algn="ctr">
              <a:lnSpc>
                <a:spcPct val="100000"/>
              </a:lnSpc>
              <a:buNone/>
            </a:pPr>
            <a:r>
              <a:rPr lang="es-VE" spc="-1" noProof="0" dirty="0">
                <a:solidFill>
                  <a:srgbClr val="000000"/>
                </a:solidFill>
                <a:latin typeface="Aptos" panose="020B0004020202020204" pitchFamily="34" charset="0"/>
              </a:rPr>
              <a:t>Lcdo. Rafael J. Puche Q.</a:t>
            </a:r>
            <a:endParaRPr lang="es-VE" b="0" strike="noStrike" spc="-1" noProof="0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es-VE" b="0" strike="noStrike" spc="-1" noProof="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71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FB19-2787-B32F-2D50-EBFE9726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05A25-509C-5F72-8CDC-057D408688DA}"/>
              </a:ext>
            </a:extLst>
          </p:cNvPr>
          <p:cNvSpPr txBox="1"/>
          <p:nvPr/>
        </p:nvSpPr>
        <p:spPr>
          <a:xfrm>
            <a:off x="601351" y="1382286"/>
            <a:ext cx="109892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VE" sz="3600" b="1" dirty="0">
                <a:latin typeface="Aptos" panose="020B0004020202020204" pitchFamily="34" charset="0"/>
              </a:rPr>
              <a:t>Comparaciones booleanas</a:t>
            </a:r>
          </a:p>
          <a:p>
            <a:pPr algn="just"/>
            <a:endParaRPr lang="es-VE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VE" sz="2800" dirty="0">
                <a:latin typeface="Aptos" panose="020B0004020202020204" pitchFamily="34" charset="0"/>
              </a:rPr>
              <a:t>Una </a:t>
            </a:r>
            <a:r>
              <a:rPr lang="es-VE" sz="2800" b="1" dirty="0">
                <a:latin typeface="Aptos" panose="020B0004020202020204" pitchFamily="34" charset="0"/>
              </a:rPr>
              <a:t>“oración” </a:t>
            </a:r>
            <a:r>
              <a:rPr lang="es-VE" sz="2800" dirty="0">
                <a:latin typeface="Aptos" panose="020B0004020202020204" pitchFamily="34" charset="0"/>
              </a:rPr>
              <a:t>para una </a:t>
            </a:r>
            <a:r>
              <a:rPr lang="es-VE" sz="2800" b="1" dirty="0">
                <a:solidFill>
                  <a:srgbClr val="FF0000"/>
                </a:solidFill>
                <a:latin typeface="Aptos" panose="020B0004020202020204" pitchFamily="34" charset="0"/>
              </a:rPr>
              <a:t>comparación booleana </a:t>
            </a:r>
            <a:r>
              <a:rPr lang="es-VE" sz="2800" dirty="0">
                <a:latin typeface="Aptos" panose="020B0004020202020204" pitchFamily="34" charset="0"/>
              </a:rPr>
              <a:t>debe tener un estado binario (</a:t>
            </a:r>
            <a:r>
              <a:rPr lang="es-VE" sz="2800" b="1" dirty="0">
                <a:latin typeface="Aptos" panose="020B0004020202020204" pitchFamily="34" charset="0"/>
              </a:rPr>
              <a:t>VERDADERO</a:t>
            </a:r>
            <a:r>
              <a:rPr lang="es-VE" sz="2800" dirty="0">
                <a:latin typeface="Aptos" panose="020B0004020202020204" pitchFamily="34" charset="0"/>
              </a:rPr>
              <a:t> o </a:t>
            </a:r>
            <a:r>
              <a:rPr lang="es-VE" sz="2800" b="1" dirty="0">
                <a:latin typeface="Aptos" panose="020B0004020202020204" pitchFamily="34" charset="0"/>
              </a:rPr>
              <a:t>FALSO</a:t>
            </a:r>
            <a:r>
              <a:rPr lang="es-VE" sz="2800" dirty="0">
                <a:latin typeface="Aptos" panose="020B0004020202020204" pitchFamily="34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VE" sz="2800" dirty="0">
                <a:latin typeface="Aptos" panose="020B0004020202020204" pitchFamily="34" charset="0"/>
              </a:rPr>
              <a:t> </a:t>
            </a:r>
            <a:r>
              <a:rPr lang="es-VE" sz="2800" b="1" dirty="0">
                <a:latin typeface="Aptos" panose="020B0004020202020204" pitchFamily="34" charset="0"/>
              </a:rPr>
              <a:t>==</a:t>
            </a:r>
            <a:r>
              <a:rPr lang="es-VE" sz="2800" dirty="0">
                <a:latin typeface="Aptos" panose="020B0004020202020204" pitchFamily="34" charset="0"/>
              </a:rPr>
              <a:t> (comprueba si es igual)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VE" sz="2800" dirty="0">
                <a:latin typeface="Aptos" panose="020B0004020202020204" pitchFamily="34" charset="0"/>
              </a:rPr>
              <a:t> </a:t>
            </a:r>
            <a:r>
              <a:rPr lang="es-VE" sz="2800" b="1" dirty="0">
                <a:latin typeface="Aptos" panose="020B0004020202020204" pitchFamily="34" charset="0"/>
              </a:rPr>
              <a:t>&lt;</a:t>
            </a:r>
            <a:r>
              <a:rPr lang="es-VE" sz="2800" dirty="0">
                <a:latin typeface="Aptos" panose="020B0004020202020204" pitchFamily="34" charset="0"/>
              </a:rPr>
              <a:t>, </a:t>
            </a:r>
            <a:r>
              <a:rPr lang="es-VE" sz="2800" b="1" dirty="0">
                <a:latin typeface="Aptos" panose="020B0004020202020204" pitchFamily="34" charset="0"/>
              </a:rPr>
              <a:t>&gt;</a:t>
            </a:r>
            <a:r>
              <a:rPr lang="es-VE" sz="2800" dirty="0">
                <a:latin typeface="Aptos" panose="020B0004020202020204" pitchFamily="34" charset="0"/>
              </a:rPr>
              <a:t>, </a:t>
            </a:r>
            <a:r>
              <a:rPr lang="es-VE" sz="2800" b="1" dirty="0">
                <a:latin typeface="Aptos" panose="020B0004020202020204" pitchFamily="34" charset="0"/>
              </a:rPr>
              <a:t>&lt;=</a:t>
            </a:r>
            <a:r>
              <a:rPr lang="es-VE" sz="2800" dirty="0">
                <a:latin typeface="Aptos" panose="020B0004020202020204" pitchFamily="34" charset="0"/>
              </a:rPr>
              <a:t>, </a:t>
            </a:r>
            <a:r>
              <a:rPr lang="es-VE" sz="2800" b="1" dirty="0">
                <a:latin typeface="Aptos" panose="020B0004020202020204" pitchFamily="34" charset="0"/>
              </a:rPr>
              <a:t>&gt;=</a:t>
            </a:r>
            <a:r>
              <a:rPr lang="es-VE" sz="2800" dirty="0">
                <a:latin typeface="Aptos" panose="020B0004020202020204" pitchFamily="34" charset="0"/>
              </a:rPr>
              <a:t> (menor que, mayor que, menor que o igual a, mayor que o igual a)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VE" sz="2800" dirty="0">
                <a:latin typeface="Aptos" panose="020B0004020202020204" pitchFamily="34" charset="0"/>
              </a:rPr>
              <a:t> </a:t>
            </a:r>
            <a:r>
              <a:rPr lang="es-VE" sz="2800" b="1" dirty="0">
                <a:latin typeface="Aptos" panose="020B0004020202020204" pitchFamily="34" charset="0"/>
              </a:rPr>
              <a:t>|</a:t>
            </a:r>
            <a:r>
              <a:rPr lang="es-VE" sz="2800" dirty="0">
                <a:latin typeface="Aptos" panose="020B0004020202020204" pitchFamily="34" charset="0"/>
              </a:rPr>
              <a:t>, </a:t>
            </a:r>
            <a:r>
              <a:rPr lang="es-VE" sz="2800" b="1" dirty="0">
                <a:latin typeface="Aptos" panose="020B0004020202020204" pitchFamily="34" charset="0"/>
              </a:rPr>
              <a:t>&amp;</a:t>
            </a:r>
            <a:r>
              <a:rPr lang="es-VE" sz="2800" dirty="0">
                <a:latin typeface="Aptos" panose="020B0004020202020204" pitchFamily="34" charset="0"/>
              </a:rPr>
              <a:t>, </a:t>
            </a:r>
            <a:r>
              <a:rPr lang="es-VE" sz="2800" b="1" dirty="0">
                <a:latin typeface="Aptos" panose="020B0004020202020204" pitchFamily="34" charset="0"/>
              </a:rPr>
              <a:t>!</a:t>
            </a:r>
            <a:r>
              <a:rPr lang="es-VE" sz="2800" dirty="0">
                <a:latin typeface="Aptos" panose="020B0004020202020204" pitchFamily="34" charset="0"/>
              </a:rPr>
              <a:t> (o, y, no)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VE" sz="2800" dirty="0">
                <a:latin typeface="Aptos" panose="020B0004020202020204" pitchFamily="34" charset="0"/>
              </a:rPr>
              <a:t> </a:t>
            </a:r>
            <a:r>
              <a:rPr lang="es-VE" sz="28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isTRUE</a:t>
            </a:r>
            <a:r>
              <a:rPr lang="es-VE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(1!=1)</a:t>
            </a:r>
            <a:r>
              <a:rPr lang="es-VE" sz="2800" dirty="0">
                <a:latin typeface="Aptos" panose="020B0004020202020204" pitchFamily="34" charset="0"/>
              </a:rPr>
              <a:t>; (comprueba si el contenido es verdadero)</a:t>
            </a:r>
          </a:p>
        </p:txBody>
      </p:sp>
    </p:spTree>
    <p:extLst>
      <p:ext uri="{BB962C8B-B14F-4D97-AF65-F5344CB8AC3E}">
        <p14:creationId xmlns:p14="http://schemas.microsoft.com/office/powerpoint/2010/main" val="117375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2296-3515-7136-C85E-FBD546E6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92874-C15F-72F5-FD91-1388B8035A66}"/>
              </a:ext>
            </a:extLst>
          </p:cNvPr>
          <p:cNvSpPr txBox="1"/>
          <p:nvPr/>
        </p:nvSpPr>
        <p:spPr>
          <a:xfrm>
            <a:off x="619027" y="274290"/>
            <a:ext cx="1095394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latin typeface="Aptos" panose="020B0004020202020204" pitchFamily="34" charset="0"/>
              </a:rPr>
              <a:t>El humilde </a:t>
            </a:r>
            <a:r>
              <a:rPr lang="es-ES" sz="4000" b="1" dirty="0" err="1">
                <a:latin typeface="Aptos" panose="020B0004020202020204" pitchFamily="34" charset="0"/>
              </a:rPr>
              <a:t>If</a:t>
            </a:r>
            <a:r>
              <a:rPr lang="es-ES" sz="4000" b="1" dirty="0">
                <a:latin typeface="Aptos" panose="020B0004020202020204" pitchFamily="34" charset="0"/>
              </a:rPr>
              <a:t>()</a:t>
            </a:r>
          </a:p>
          <a:p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"Haz esto entre llaves si lo que tengo entre paréntesis es verdadero“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x&lt;-10</a:t>
            </a:r>
          </a:p>
          <a:p>
            <a:pPr algn="just"/>
            <a:r>
              <a:rPr lang="es-ES" sz="2800" dirty="0" err="1">
                <a:latin typeface="Aptos" panose="020B0004020202020204" pitchFamily="34" charset="0"/>
              </a:rPr>
              <a:t>if</a:t>
            </a:r>
            <a:r>
              <a:rPr lang="es-ES" sz="2800" dirty="0">
                <a:latin typeface="Aptos" panose="020B0004020202020204" pitchFamily="34" charset="0"/>
              </a:rPr>
              <a:t>(x==10){</a:t>
            </a:r>
          </a:p>
          <a:p>
            <a:pPr algn="just"/>
            <a:r>
              <a:rPr lang="es-ES" sz="2800" dirty="0" err="1">
                <a:latin typeface="Aptos" panose="020B0004020202020204" pitchFamily="34" charset="0"/>
              </a:rPr>
              <a:t>print</a:t>
            </a:r>
            <a:r>
              <a:rPr lang="es-ES" sz="2800" dirty="0">
                <a:latin typeface="Aptos" panose="020B0004020202020204" pitchFamily="34" charset="0"/>
              </a:rPr>
              <a:t>("x es efectivamente diez");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}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Si cambias la condición de prueba o el valor que estás probando para que se evalúe como falso, no se mostrará el resultado de la condición verdadera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 err="1">
                <a:latin typeface="Aptos" panose="020B0004020202020204" pitchFamily="34" charset="0"/>
              </a:rPr>
              <a:t>if</a:t>
            </a:r>
            <a:r>
              <a:rPr lang="es-ES" sz="2800" dirty="0">
                <a:latin typeface="Aptos" panose="020B0004020202020204" pitchFamily="34" charset="0"/>
              </a:rPr>
              <a:t>() suele ir acompañado de un </a:t>
            </a:r>
            <a:r>
              <a:rPr lang="es-ES" sz="2800" dirty="0" err="1">
                <a:latin typeface="Aptos" panose="020B0004020202020204" pitchFamily="34" charset="0"/>
              </a:rPr>
              <a:t>else</a:t>
            </a:r>
            <a:r>
              <a:rPr lang="es-ES" sz="2800" dirty="0">
                <a:latin typeface="Aptos" panose="020B0004020202020204" pitchFamily="34" charset="0"/>
              </a:rPr>
              <a:t>()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34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A19D-90AF-EC8F-3451-4AD78B0B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A459D-F641-1BEA-27F3-4C32F7B2244D}"/>
              </a:ext>
            </a:extLst>
          </p:cNvPr>
          <p:cNvSpPr txBox="1"/>
          <p:nvPr/>
        </p:nvSpPr>
        <p:spPr>
          <a:xfrm>
            <a:off x="652020" y="1166842"/>
            <a:ext cx="108879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VE" sz="3600" b="1" dirty="0">
                <a:latin typeface="Aptos" panose="020B0004020202020204" pitchFamily="34" charset="0"/>
              </a:rPr>
              <a:t>Por fin </a:t>
            </a:r>
            <a:r>
              <a:rPr lang="es-VE" sz="3600" b="1" dirty="0" err="1">
                <a:solidFill>
                  <a:srgbClr val="FF0000"/>
                </a:solidFill>
                <a:latin typeface="Aptos" panose="020B0004020202020204" pitchFamily="34" charset="0"/>
              </a:rPr>
              <a:t>else</a:t>
            </a:r>
            <a:endParaRPr lang="es-VE" sz="3600" b="1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algn="just"/>
            <a:endParaRPr lang="es-VE" sz="2800" dirty="0">
              <a:latin typeface="Aptos" panose="020B0004020202020204" pitchFamily="34" charset="0"/>
            </a:endParaRPr>
          </a:p>
          <a:p>
            <a:pPr algn="just"/>
            <a:r>
              <a:rPr lang="es-VE" sz="2800" dirty="0">
                <a:latin typeface="Aptos" panose="020B0004020202020204" pitchFamily="34" charset="0"/>
              </a:rPr>
              <a:t>“Si la condición de la parte </a:t>
            </a:r>
            <a:r>
              <a:rPr lang="es-VE" sz="2800" dirty="0" err="1">
                <a:latin typeface="Aptos" panose="020B0004020202020204" pitchFamily="34" charset="0"/>
              </a:rPr>
              <a:t>if</a:t>
            </a:r>
            <a:r>
              <a:rPr lang="es-VE" sz="2800" dirty="0">
                <a:latin typeface="Aptos" panose="020B0004020202020204" pitchFamily="34" charset="0"/>
              </a:rPr>
              <a:t> no se cumple, haz esto en su lugar”</a:t>
            </a:r>
          </a:p>
          <a:p>
            <a:pPr algn="just"/>
            <a:endParaRPr lang="es-VE" sz="2800" dirty="0">
              <a:latin typeface="Aptos" panose="020B0004020202020204" pitchFamily="34" charset="0"/>
            </a:endParaRPr>
          </a:p>
          <a:p>
            <a:pPr algn="just"/>
            <a:r>
              <a:rPr lang="es-VE" sz="2800" dirty="0">
                <a:latin typeface="Aptos" panose="020B0004020202020204" pitchFamily="34" charset="0"/>
              </a:rPr>
              <a:t>a&lt;-5;</a:t>
            </a:r>
          </a:p>
          <a:p>
            <a:pPr algn="just"/>
            <a:r>
              <a:rPr lang="es-VE" sz="2800" dirty="0" err="1">
                <a:latin typeface="Aptos" panose="020B0004020202020204" pitchFamily="34" charset="0"/>
              </a:rPr>
              <a:t>if</a:t>
            </a:r>
            <a:r>
              <a:rPr lang="es-VE" sz="2800" dirty="0">
                <a:latin typeface="Aptos" panose="020B0004020202020204" pitchFamily="34" charset="0"/>
              </a:rPr>
              <a:t>(a==5){</a:t>
            </a:r>
          </a:p>
          <a:p>
            <a:pPr algn="just"/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("Sí. Es un cinco.")</a:t>
            </a:r>
          </a:p>
          <a:p>
            <a:pPr algn="just"/>
            <a:r>
              <a:rPr lang="es-VE" sz="2800" dirty="0">
                <a:latin typeface="Aptos" panose="020B0004020202020204" pitchFamily="34" charset="0"/>
              </a:rPr>
              <a:t>}</a:t>
            </a:r>
            <a:r>
              <a:rPr lang="es-VE" sz="2800" dirty="0" err="1">
                <a:latin typeface="Aptos" panose="020B0004020202020204" pitchFamily="34" charset="0"/>
              </a:rPr>
              <a:t>else</a:t>
            </a:r>
            <a:r>
              <a:rPr lang="es-VE" sz="2800" dirty="0">
                <a:latin typeface="Aptos" panose="020B0004020202020204" pitchFamily="34" charset="0"/>
              </a:rPr>
              <a:t>{</a:t>
            </a:r>
          </a:p>
          <a:p>
            <a:pPr algn="just"/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("Tu demostración no cumplió la condición </a:t>
            </a:r>
            <a:r>
              <a:rPr lang="es-VE" sz="2800" dirty="0" err="1">
                <a:latin typeface="Aptos" panose="020B0004020202020204" pitchFamily="34" charset="0"/>
              </a:rPr>
              <a:t>if</a:t>
            </a:r>
            <a:r>
              <a:rPr lang="es-VE" sz="2800" dirty="0">
                <a:latin typeface="Aptos" panose="020B0004020202020204" pitchFamily="34" charset="0"/>
              </a:rPr>
              <a:t>()");</a:t>
            </a:r>
          </a:p>
          <a:p>
            <a:pPr algn="just"/>
            <a:r>
              <a:rPr lang="es-VE" sz="2800" dirty="0">
                <a:latin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881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B4DC-61E5-7D2C-2C63-15572571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3EF127-1D2E-2885-4841-BBAC8016A58D}"/>
              </a:ext>
            </a:extLst>
          </p:cNvPr>
          <p:cNvSpPr txBox="1"/>
          <p:nvPr/>
        </p:nvSpPr>
        <p:spPr>
          <a:xfrm>
            <a:off x="609600" y="1166842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ptos" panose="020B0004020202020204" pitchFamily="34" charset="0"/>
              </a:rPr>
              <a:t>ADVERTENCIA: BUCLES ADELANTE</a:t>
            </a:r>
          </a:p>
          <a:p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Los bucles facilitan la repetición de acciones una y otra vez. </a:t>
            </a:r>
            <a:r>
              <a:rPr lang="es-ES" sz="2800" b="1" dirty="0">
                <a:solidFill>
                  <a:srgbClr val="FF0000"/>
                </a:solidFill>
                <a:latin typeface="Aptos" panose="020B0004020202020204" pitchFamily="34" charset="0"/>
              </a:rPr>
              <a:t>NO OLVIDARSE QUE SON PODEROSOS.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Se puede bloquear R o el ordenador con un bucle infinito o finito que consuma demasiada memoria.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Asegúrense de saber lo que hacen si realizan operaciones de E/S de archivos en un bucle; se podría destruir información importante fuera de R. </a:t>
            </a:r>
            <a:r>
              <a:rPr lang="es-ES" sz="2800" b="1" dirty="0">
                <a:solidFill>
                  <a:srgbClr val="FF0000"/>
                </a:solidFill>
                <a:latin typeface="Aptos" panose="020B0004020202020204" pitchFamily="34" charset="0"/>
              </a:rPr>
              <a:t>En serio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Considérense advertidos.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7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85695-D677-9B6B-D615-4E90F2BA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461E9-5469-3351-0A2C-C6BCE4260FBB}"/>
              </a:ext>
            </a:extLst>
          </p:cNvPr>
          <p:cNvSpPr txBox="1"/>
          <p:nvPr/>
        </p:nvSpPr>
        <p:spPr>
          <a:xfrm>
            <a:off x="623740" y="735955"/>
            <a:ext cx="1094452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 err="1">
                <a:latin typeface="Aptos" panose="020B0004020202020204" pitchFamily="34" charset="0"/>
              </a:rPr>
              <a:t>While</a:t>
            </a:r>
            <a:endParaRPr lang="es-ES" sz="3600" b="1" dirty="0">
              <a:latin typeface="Aptos" panose="020B0004020202020204" pitchFamily="34" charset="0"/>
            </a:endParaRPr>
          </a:p>
          <a:p>
            <a:endParaRPr lang="es-ES" sz="2800" dirty="0">
              <a:latin typeface="Aptos" panose="020B0004020202020204" pitchFamily="34" charset="0"/>
            </a:endParaRPr>
          </a:p>
          <a:p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Un bucle </a:t>
            </a:r>
            <a:r>
              <a:rPr lang="es-ES" sz="2800" b="1" dirty="0" err="1">
                <a:solidFill>
                  <a:srgbClr val="FF0000"/>
                </a:solidFill>
                <a:latin typeface="Aptos" panose="020B0004020202020204" pitchFamily="34" charset="0"/>
              </a:rPr>
              <a:t>while</a:t>
            </a:r>
            <a:r>
              <a:rPr lang="es-ES" sz="2800" dirty="0">
                <a:latin typeface="Aptos" panose="020B0004020202020204" pitchFamily="34" charset="0"/>
              </a:rPr>
              <a:t> en R es una estructura de control que repite un bloque de código mientras una condición especificada sea </a:t>
            </a:r>
            <a:r>
              <a:rPr lang="es-E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VERDADERA</a:t>
            </a:r>
            <a:r>
              <a:rPr lang="es-ES" sz="2800" dirty="0">
                <a:latin typeface="Aptos" panose="020B0004020202020204" pitchFamily="34" charset="0"/>
              </a:rPr>
              <a:t>. 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Es como decirle a R: "Sigue con esta tarea hasta que te diga que pares".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La sintaxis básica de un bucle </a:t>
            </a:r>
            <a:r>
              <a:rPr lang="es-ES" sz="2800" dirty="0" err="1">
                <a:latin typeface="Aptos" panose="020B0004020202020204" pitchFamily="34" charset="0"/>
              </a:rPr>
              <a:t>while</a:t>
            </a:r>
            <a:r>
              <a:rPr lang="es-ES" sz="2800" dirty="0">
                <a:latin typeface="Aptos" panose="020B0004020202020204" pitchFamily="34" charset="0"/>
              </a:rPr>
              <a:t> es la siguiente: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 err="1">
                <a:latin typeface="Aptos" panose="020B0004020202020204" pitchFamily="34" charset="0"/>
              </a:rPr>
              <a:t>while</a:t>
            </a:r>
            <a:r>
              <a:rPr lang="es-ES" sz="2800" dirty="0">
                <a:latin typeface="Aptos" panose="020B0004020202020204" pitchFamily="34" charset="0"/>
              </a:rPr>
              <a:t> (condición) {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# Código a ejecutar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}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08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1872-5C1A-A264-EC61-C8B607E0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F3B77A-5B72-4729-8C56-A7AC6A65D727}"/>
              </a:ext>
            </a:extLst>
          </p:cNvPr>
          <p:cNvSpPr txBox="1"/>
          <p:nvPr/>
        </p:nvSpPr>
        <p:spPr>
          <a:xfrm>
            <a:off x="614313" y="1443841"/>
            <a:ext cx="10963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Aptos" panose="020B0004020202020204" pitchFamily="34" charset="0"/>
              </a:rPr>
              <a:t>El bucle sigue estos sencillos pasos: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Comprueba si la condición es </a:t>
            </a:r>
            <a:r>
              <a:rPr lang="es-E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VERDADERA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Si es </a:t>
            </a:r>
            <a:r>
              <a:rPr lang="es-E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VERDADERA</a:t>
            </a:r>
            <a:r>
              <a:rPr lang="es-ES" sz="2800" dirty="0">
                <a:latin typeface="Aptos" panose="020B0004020202020204" pitchFamily="34" charset="0"/>
              </a:rPr>
              <a:t>, ejecuta el código entre llaves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Regresa al paso 1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Si es </a:t>
            </a:r>
            <a:r>
              <a:rPr lang="es-ES" sz="2800" b="1" dirty="0">
                <a:solidFill>
                  <a:srgbClr val="FF0000"/>
                </a:solidFill>
                <a:latin typeface="Aptos" panose="020B0004020202020204" pitchFamily="34" charset="0"/>
              </a:rPr>
              <a:t>FALSA</a:t>
            </a:r>
            <a:r>
              <a:rPr lang="es-ES" sz="2800" dirty="0">
                <a:latin typeface="Aptos" panose="020B0004020202020204" pitchFamily="34" charset="0"/>
              </a:rPr>
              <a:t>, sale del bucle y continúa con el resto del programa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6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EC97-C620-7147-B2B5-8E47C434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8E67FA-6611-EA8A-D4AC-0A4A1A077585}"/>
              </a:ext>
            </a:extLst>
          </p:cNvPr>
          <p:cNvSpPr txBox="1"/>
          <p:nvPr/>
        </p:nvSpPr>
        <p:spPr>
          <a:xfrm>
            <a:off x="1057373" y="1659285"/>
            <a:ext cx="100772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Aptos" panose="020B0004020202020204" pitchFamily="34" charset="0"/>
              </a:rPr>
              <a:t># Inicializar un contador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contador &lt;- 1 # Crear un bucle </a:t>
            </a:r>
            <a:r>
              <a:rPr lang="es-ES" sz="2800" dirty="0" err="1">
                <a:latin typeface="Aptos" panose="020B0004020202020204" pitchFamily="34" charset="0"/>
              </a:rPr>
              <a:t>while</a:t>
            </a:r>
            <a:r>
              <a:rPr lang="es-ES" sz="2800" dirty="0">
                <a:latin typeface="Aptos" panose="020B0004020202020204" pitchFamily="34" charset="0"/>
              </a:rPr>
              <a:t> que cuente del 1 al 5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 err="1">
                <a:latin typeface="Aptos" panose="020B0004020202020204" pitchFamily="34" charset="0"/>
              </a:rPr>
              <a:t>while</a:t>
            </a:r>
            <a:r>
              <a:rPr lang="es-ES" sz="2800" dirty="0">
                <a:latin typeface="Aptos" panose="020B0004020202020204" pitchFamily="34" charset="0"/>
              </a:rPr>
              <a:t> (contador &lt;= 5) {</a:t>
            </a:r>
          </a:p>
          <a:p>
            <a:pPr algn="just"/>
            <a:r>
              <a:rPr lang="es-ES" sz="2800" dirty="0" err="1">
                <a:latin typeface="Aptos" panose="020B0004020202020204" pitchFamily="34" charset="0"/>
              </a:rPr>
              <a:t>print</a:t>
            </a:r>
            <a:r>
              <a:rPr lang="es-ES" sz="2800" dirty="0">
                <a:latin typeface="Aptos" panose="020B0004020202020204" pitchFamily="34" charset="0"/>
              </a:rPr>
              <a:t>(paste("</a:t>
            </a:r>
            <a:r>
              <a:rPr lang="es-ES" sz="2800" dirty="0" err="1">
                <a:latin typeface="Aptos" panose="020B0004020202020204" pitchFamily="34" charset="0"/>
              </a:rPr>
              <a:t>Count</a:t>
            </a:r>
            <a:r>
              <a:rPr lang="es-ES" sz="2800" dirty="0">
                <a:latin typeface="Aptos" panose="020B0004020202020204" pitchFamily="34" charset="0"/>
              </a:rPr>
              <a:t>:", contador))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contador &lt;- contador + 1</a:t>
            </a: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}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9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2CDD-0D17-DCDA-D2DE-7B0A7CD3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04BDB4-778B-E069-0E04-8F6DFAD70E30}"/>
              </a:ext>
            </a:extLst>
          </p:cNvPr>
          <p:cNvSpPr txBox="1"/>
          <p:nvPr/>
        </p:nvSpPr>
        <p:spPr>
          <a:xfrm>
            <a:off x="609600" y="1597729"/>
            <a:ext cx="109728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latin typeface="Aptos" panose="020B0004020202020204" pitchFamily="34" charset="0"/>
              </a:rPr>
              <a:t>El bucle </a:t>
            </a:r>
            <a:r>
              <a:rPr lang="es-ES" sz="3600" b="1" dirty="0" err="1">
                <a:solidFill>
                  <a:srgbClr val="FF0000"/>
                </a:solidFill>
                <a:latin typeface="Aptos" panose="020B0004020202020204" pitchFamily="34" charset="0"/>
              </a:rPr>
              <a:t>for</a:t>
            </a:r>
            <a:r>
              <a:rPr lang="es-ES" sz="3600" b="1" dirty="0">
                <a:solidFill>
                  <a:srgbClr val="FF0000"/>
                </a:solidFill>
                <a:latin typeface="Aptos" panose="020B0004020202020204" pitchFamily="34" charset="0"/>
              </a:rPr>
              <a:t>()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Este es el bucle más fácil de visualizar, el más difícil de romper y cubrirá aproximadamente el 99 % de las necesidades de bucles.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Los bucles </a:t>
            </a:r>
            <a:r>
              <a:rPr lang="es-ES" sz="2800" dirty="0" err="1">
                <a:latin typeface="Aptos" panose="020B0004020202020204" pitchFamily="34" charset="0"/>
              </a:rPr>
              <a:t>for</a:t>
            </a:r>
            <a:r>
              <a:rPr lang="es-ES" sz="2800" dirty="0">
                <a:latin typeface="Aptos" panose="020B0004020202020204" pitchFamily="34" charset="0"/>
              </a:rPr>
              <a:t> requieren una variable de contador y una secuencia en R. La siguiente diapositiva mostrará varios ejemplos.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8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3518B6-54AF-F160-57BC-5CB9318B3073}"/>
              </a:ext>
            </a:extLst>
          </p:cNvPr>
          <p:cNvSpPr txBox="1"/>
          <p:nvPr/>
        </p:nvSpPr>
        <p:spPr>
          <a:xfrm>
            <a:off x="386500" y="582067"/>
            <a:ext cx="1098222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Aptos" panose="020B0004020202020204" pitchFamily="34" charset="0"/>
              </a:rPr>
              <a:t>Imaginemos que tenemos una </a:t>
            </a:r>
            <a:r>
              <a:rPr lang="es-ES" sz="2800" b="1" dirty="0">
                <a:latin typeface="Aptos" panose="020B0004020202020204" pitchFamily="34" charset="0"/>
              </a:rPr>
              <a:t>lista de tareas </a:t>
            </a:r>
            <a:r>
              <a:rPr lang="es-ES" sz="2800" dirty="0">
                <a:latin typeface="Aptos" panose="020B0004020202020204" pitchFamily="34" charset="0"/>
              </a:rPr>
              <a:t>para el día: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Comprar pan.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Enviar un correo electrónico.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Llamar a mamá.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Leer un capítulo de un libro.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  <a:p>
            <a:pPr algn="just"/>
            <a:r>
              <a:rPr lang="es-ES" sz="2800" dirty="0">
                <a:latin typeface="Aptos" panose="020B0004020202020204" pitchFamily="34" charset="0"/>
              </a:rPr>
              <a:t>Un bucle </a:t>
            </a:r>
            <a:r>
              <a:rPr lang="es-ES" sz="2800" b="1" dirty="0" err="1">
                <a:solidFill>
                  <a:srgbClr val="FF0000"/>
                </a:solidFill>
                <a:latin typeface="Aptos" panose="020B0004020202020204" pitchFamily="34" charset="0"/>
              </a:rPr>
              <a:t>for</a:t>
            </a:r>
            <a:r>
              <a:rPr lang="es-ES" sz="2800" dirty="0">
                <a:latin typeface="Aptos" panose="020B0004020202020204" pitchFamily="34" charset="0"/>
              </a:rPr>
              <a:t> es como un asistente al que le das esta lista y una sola instrucción: "Para cada tarea en esta lista, léela en voz alta".</a:t>
            </a:r>
          </a:p>
          <a:p>
            <a:pPr algn="just"/>
            <a:endParaRPr lang="es-ES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22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8E381F-5C8F-790B-C40D-114806775C2F}"/>
              </a:ext>
            </a:extLst>
          </p:cNvPr>
          <p:cNvSpPr txBox="1"/>
          <p:nvPr/>
        </p:nvSpPr>
        <p:spPr>
          <a:xfrm>
            <a:off x="604886" y="797510"/>
            <a:ext cx="1098222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latin typeface="Aptos" panose="020B0004020202020204" pitchFamily="34" charset="0"/>
              </a:rPr>
              <a:t>El asistente haría lo siguiente:</a:t>
            </a:r>
          </a:p>
          <a:p>
            <a:endParaRPr lang="es-ES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Toma la primera tarea ("Comprar pan") y la lee en voz alta.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Toma la segunda tarea ("Enviar un correo electrónico") y la lee en voz alta.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Toma la tercera tarea ("Llamar a mamá") y la lee en voz alta.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Aptos" panose="020B0004020202020204" pitchFamily="34" charset="0"/>
              </a:rPr>
              <a:t>Toma la cuarta tarea ("Leer un capítulo de un libro") y la lee en voz alta.</a:t>
            </a:r>
          </a:p>
          <a:p>
            <a:endParaRPr lang="es-ES" sz="2800" dirty="0">
              <a:latin typeface="Aptos" panose="020B0004020202020204" pitchFamily="34" charset="0"/>
            </a:endParaRPr>
          </a:p>
          <a:p>
            <a:r>
              <a:rPr lang="es-ES" sz="2800" dirty="0">
                <a:latin typeface="Aptos" panose="020B0004020202020204" pitchFamily="34" charset="0"/>
              </a:rPr>
              <a:t>Al llegar al final de la lista, se detiene.</a:t>
            </a:r>
            <a:endParaRPr lang="es-VE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614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8430-6433-D831-9F05-487F0EA6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5F1D7-8B95-5614-770F-0888EC111A48}"/>
              </a:ext>
            </a:extLst>
          </p:cNvPr>
          <p:cNvSpPr txBox="1"/>
          <p:nvPr/>
        </p:nvSpPr>
        <p:spPr>
          <a:xfrm>
            <a:off x="3731051" y="871136"/>
            <a:ext cx="4729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3600" dirty="0">
                <a:latin typeface="Aptos" panose="020B0004020202020204" pitchFamily="34" charset="0"/>
              </a:rPr>
              <a:t>Bucle </a:t>
            </a:r>
            <a:r>
              <a:rPr lang="es-VE" sz="3600" b="1" dirty="0" err="1">
                <a:solidFill>
                  <a:srgbClr val="FF0000"/>
                </a:solidFill>
                <a:latin typeface="Aptos" panose="020B0004020202020204" pitchFamily="34" charset="0"/>
              </a:rPr>
              <a:t>for</a:t>
            </a:r>
            <a:r>
              <a:rPr lang="es-VE" sz="3600" b="1" dirty="0">
                <a:solidFill>
                  <a:srgbClr val="FF0000"/>
                </a:solidFill>
                <a:latin typeface="Aptos" panose="020B0004020202020204" pitchFamily="34" charset="0"/>
              </a:rPr>
              <a:t>()</a:t>
            </a:r>
            <a:r>
              <a:rPr lang="es-VE" sz="3600" dirty="0">
                <a:latin typeface="Aptos" panose="020B0004020202020204" pitchFamily="34" charset="0"/>
              </a:rPr>
              <a:t> Paso a paso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E02A6-20DD-E098-18F4-05648536FE57}"/>
              </a:ext>
            </a:extLst>
          </p:cNvPr>
          <p:cNvSpPr txBox="1"/>
          <p:nvPr/>
        </p:nvSpPr>
        <p:spPr>
          <a:xfrm>
            <a:off x="2774230" y="3393806"/>
            <a:ext cx="26395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(1);</a:t>
            </a:r>
          </a:p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(2);</a:t>
            </a:r>
          </a:p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(3);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BB2BB-699F-563E-7298-C0D4C01E90A2}"/>
              </a:ext>
            </a:extLst>
          </p:cNvPr>
          <p:cNvSpPr txBox="1"/>
          <p:nvPr/>
        </p:nvSpPr>
        <p:spPr>
          <a:xfrm>
            <a:off x="5413735" y="1670258"/>
            <a:ext cx="609442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800" dirty="0" err="1">
                <a:latin typeface="Aptos" panose="020B0004020202020204" pitchFamily="34" charset="0"/>
              </a:rPr>
              <a:t>for</a:t>
            </a:r>
            <a:r>
              <a:rPr lang="es-VE" sz="2800" dirty="0">
                <a:latin typeface="Aptos" panose="020B0004020202020204" pitchFamily="34" charset="0"/>
              </a:rPr>
              <a:t>(i in </a:t>
            </a:r>
            <a:r>
              <a:rPr lang="es-VE" sz="2800" dirty="0" err="1">
                <a:latin typeface="Aptos" panose="020B0004020202020204" pitchFamily="34" charset="0"/>
              </a:rPr>
              <a:t>seq</a:t>
            </a:r>
            <a:r>
              <a:rPr lang="es-VE" sz="2800" dirty="0">
                <a:latin typeface="Aptos" panose="020B0004020202020204" pitchFamily="34" charset="0"/>
              </a:rPr>
              <a:t>(1:5)){</a:t>
            </a:r>
          </a:p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(i);</a:t>
            </a:r>
          </a:p>
          <a:p>
            <a:r>
              <a:rPr lang="es-VE" sz="2800" dirty="0">
                <a:latin typeface="Aptos" panose="020B0004020202020204" pitchFamily="34" charset="0"/>
              </a:rPr>
              <a:t>}</a:t>
            </a:r>
          </a:p>
          <a:p>
            <a:endParaRPr lang="es-VE" sz="2800" dirty="0">
              <a:latin typeface="Aptos" panose="020B0004020202020204" pitchFamily="34" charset="0"/>
            </a:endParaRPr>
          </a:p>
          <a:p>
            <a:r>
              <a:rPr lang="es-VE" sz="2800" dirty="0" err="1">
                <a:latin typeface="Aptos" panose="020B0004020202020204" pitchFamily="34" charset="0"/>
              </a:rPr>
              <a:t>for</a:t>
            </a:r>
            <a:r>
              <a:rPr lang="es-VE" sz="2800" dirty="0">
                <a:latin typeface="Aptos" panose="020B0004020202020204" pitchFamily="34" charset="0"/>
              </a:rPr>
              <a:t>(i in </a:t>
            </a:r>
            <a:r>
              <a:rPr lang="es-VE" sz="2800" dirty="0" err="1">
                <a:latin typeface="Aptos" panose="020B0004020202020204" pitchFamily="34" charset="0"/>
              </a:rPr>
              <a:t>seq</a:t>
            </a:r>
            <a:r>
              <a:rPr lang="es-VE" sz="2800" dirty="0">
                <a:latin typeface="Aptos" panose="020B0004020202020204" pitchFamily="34" charset="0"/>
              </a:rPr>
              <a:t>(1:100)){</a:t>
            </a:r>
          </a:p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(i);</a:t>
            </a:r>
          </a:p>
          <a:p>
            <a:r>
              <a:rPr lang="es-VE" sz="2800" dirty="0">
                <a:latin typeface="Aptos" panose="020B0004020202020204" pitchFamily="34" charset="0"/>
              </a:rPr>
              <a:t>}</a:t>
            </a:r>
          </a:p>
          <a:p>
            <a:endParaRPr lang="es-VE" sz="2800" dirty="0">
              <a:latin typeface="Aptos" panose="020B0004020202020204" pitchFamily="34" charset="0"/>
            </a:endParaRPr>
          </a:p>
          <a:p>
            <a:r>
              <a:rPr lang="es-VE" sz="2800" dirty="0" err="1">
                <a:latin typeface="Aptos" panose="020B0004020202020204" pitchFamily="34" charset="0"/>
              </a:rPr>
              <a:t>for</a:t>
            </a:r>
            <a:r>
              <a:rPr lang="es-VE" sz="2800" dirty="0">
                <a:latin typeface="Aptos" panose="020B0004020202020204" pitchFamily="34" charset="0"/>
              </a:rPr>
              <a:t>(i in </a:t>
            </a:r>
            <a:r>
              <a:rPr lang="es-VE" sz="2800" dirty="0" err="1">
                <a:latin typeface="Aptos" panose="020B0004020202020204" pitchFamily="34" charset="0"/>
              </a:rPr>
              <a:t>seq</a:t>
            </a:r>
            <a:r>
              <a:rPr lang="es-VE" sz="2800" dirty="0">
                <a:latin typeface="Aptos" panose="020B0004020202020204" pitchFamily="34" charset="0"/>
              </a:rPr>
              <a:t>(</a:t>
            </a:r>
            <a:r>
              <a:rPr lang="es-VE" sz="2800" dirty="0" err="1">
                <a:latin typeface="Aptos" panose="020B0004020202020204" pitchFamily="34" charset="0"/>
              </a:rPr>
              <a:t>from</a:t>
            </a:r>
            <a:r>
              <a:rPr lang="es-VE" sz="2800" dirty="0">
                <a:latin typeface="Aptos" panose="020B0004020202020204" pitchFamily="34" charset="0"/>
              </a:rPr>
              <a:t>=0, </a:t>
            </a:r>
            <a:r>
              <a:rPr lang="es-VE" sz="2800" dirty="0" err="1">
                <a:latin typeface="Aptos" panose="020B0004020202020204" pitchFamily="34" charset="0"/>
              </a:rPr>
              <a:t>to</a:t>
            </a:r>
            <a:r>
              <a:rPr lang="es-VE" sz="2800" dirty="0">
                <a:latin typeface="Aptos" panose="020B0004020202020204" pitchFamily="34" charset="0"/>
              </a:rPr>
              <a:t>=1000,by=100)){</a:t>
            </a:r>
          </a:p>
          <a:p>
            <a:r>
              <a:rPr lang="es-VE" sz="2800" dirty="0" err="1">
                <a:latin typeface="Aptos" panose="020B0004020202020204" pitchFamily="34" charset="0"/>
              </a:rPr>
              <a:t>print</a:t>
            </a:r>
            <a:r>
              <a:rPr lang="es-VE" sz="2800" dirty="0">
                <a:latin typeface="Aptos" panose="020B0004020202020204" pitchFamily="34" charset="0"/>
              </a:rPr>
              <a:t>(i);</a:t>
            </a:r>
          </a:p>
          <a:p>
            <a:r>
              <a:rPr lang="es-VE" sz="2800" dirty="0">
                <a:latin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945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711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Antonio Hernandez Medina</dc:creator>
  <cp:lastModifiedBy>Fernando Antonio Hernandez Medina</cp:lastModifiedBy>
  <cp:revision>8</cp:revision>
  <dcterms:created xsi:type="dcterms:W3CDTF">2025-07-01T16:39:23Z</dcterms:created>
  <dcterms:modified xsi:type="dcterms:W3CDTF">2025-07-02T02:13:53Z</dcterms:modified>
</cp:coreProperties>
</file>